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7" r:id="rId30"/>
    <p:sldId id="286" r:id="rId31"/>
    <p:sldId id="285" r:id="rId32"/>
    <p:sldId id="289" r:id="rId33"/>
    <p:sldId id="290" r:id="rId34"/>
    <p:sldId id="284" r:id="rId35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65" autoAdjust="0"/>
  </p:normalViewPr>
  <p:slideViewPr>
    <p:cSldViewPr>
      <p:cViewPr varScale="1">
        <p:scale>
          <a:sx n="62" d="100"/>
          <a:sy n="62" d="100"/>
        </p:scale>
        <p:origin x="98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36778-A86E-4D92-B25D-04F7EFA6B05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B0FA7-8FE0-41ED-B9F7-36DBD7B94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908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B0FA7-8FE0-41ED-B9F7-36DBD7B948B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0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54807" y="2534538"/>
            <a:ext cx="823214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3322" y="-26161"/>
            <a:ext cx="1181989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ang_fashionbrand?igsh=c2owYnZzaHdpZ2Q4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67001" y="3964686"/>
            <a:ext cx="1093470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i="1" dirty="0">
                <a:solidFill>
                  <a:srgbClr val="FF0000"/>
                </a:solidFill>
                <a:latin typeface="Palatino Linotype"/>
                <a:cs typeface="Palatino Linotype"/>
              </a:rPr>
              <a:t>RANG:</a:t>
            </a:r>
            <a:r>
              <a:rPr sz="5200" i="1" spc="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5200" i="1" dirty="0">
                <a:solidFill>
                  <a:srgbClr val="FF0000"/>
                </a:solidFill>
                <a:latin typeface="Palatino Linotype"/>
                <a:cs typeface="Palatino Linotype"/>
              </a:rPr>
              <a:t>India's</a:t>
            </a:r>
            <a:r>
              <a:rPr sz="5200" i="1" spc="8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5200" i="1" spc="85" dirty="0">
                <a:solidFill>
                  <a:srgbClr val="FF0000"/>
                </a:solidFill>
                <a:latin typeface="Palatino Linotype"/>
                <a:cs typeface="Palatino Linotype"/>
              </a:rPr>
              <a:t>Fast</a:t>
            </a:r>
            <a:r>
              <a:rPr sz="5200" i="1" spc="3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5200" i="1" spc="114" dirty="0">
                <a:solidFill>
                  <a:srgbClr val="FF0000"/>
                </a:solidFill>
                <a:latin typeface="Palatino Linotype"/>
                <a:cs typeface="Palatino Linotype"/>
              </a:rPr>
              <a:t>Fashion</a:t>
            </a:r>
            <a:r>
              <a:rPr sz="5200" i="1" spc="5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5200" i="1" spc="60" dirty="0">
                <a:solidFill>
                  <a:srgbClr val="FF0000"/>
                </a:solidFill>
                <a:latin typeface="Palatino Linotype"/>
                <a:cs typeface="Palatino Linotype"/>
              </a:rPr>
              <a:t>Contender</a:t>
            </a:r>
            <a:endParaRPr sz="52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523" y="5203697"/>
            <a:ext cx="135375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26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everyday-first</a:t>
            </a:r>
            <a:r>
              <a:rPr sz="2600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65" dirty="0">
                <a:solidFill>
                  <a:srgbClr val="FF0000"/>
                </a:solidFill>
                <a:latin typeface="Calibri"/>
                <a:cs typeface="Calibri"/>
              </a:rPr>
              <a:t>men’s</a:t>
            </a:r>
            <a:r>
              <a:rPr sz="2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150" dirty="0">
                <a:solidFill>
                  <a:srgbClr val="FF0000"/>
                </a:solidFill>
                <a:latin typeface="Calibri"/>
                <a:cs typeface="Calibri"/>
              </a:rPr>
              <a:t>casual</a:t>
            </a:r>
            <a:r>
              <a:rPr sz="26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wear</a:t>
            </a:r>
            <a:r>
              <a:rPr sz="26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50" dirty="0">
                <a:solidFill>
                  <a:srgbClr val="FF0000"/>
                </a:solidFill>
                <a:latin typeface="Calibri"/>
                <a:cs typeface="Calibri"/>
              </a:rPr>
              <a:t>brand</a:t>
            </a:r>
            <a:r>
              <a:rPr sz="26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built</a:t>
            </a:r>
            <a:r>
              <a:rPr sz="26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50" dirty="0">
                <a:solidFill>
                  <a:srgbClr val="FF0000"/>
                </a:solidFill>
                <a:latin typeface="Calibri"/>
                <a:cs typeface="Calibri"/>
              </a:rPr>
              <a:t>around</a:t>
            </a:r>
            <a:r>
              <a:rPr sz="26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75" dirty="0">
                <a:solidFill>
                  <a:srgbClr val="FF0000"/>
                </a:solidFill>
                <a:latin typeface="Calibri"/>
                <a:cs typeface="Calibri"/>
              </a:rPr>
              <a:t>mood-</a:t>
            </a:r>
            <a:r>
              <a:rPr sz="2600" spc="125"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z="26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50" dirty="0">
                <a:solidFill>
                  <a:srgbClr val="FF0000"/>
                </a:solidFill>
                <a:latin typeface="Calibri"/>
                <a:cs typeface="Calibri"/>
              </a:rPr>
              <a:t>styling</a:t>
            </a:r>
            <a:r>
              <a:rPr sz="2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9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6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85" dirty="0">
                <a:solidFill>
                  <a:srgbClr val="FF0000"/>
                </a:solidFill>
                <a:latin typeface="Calibri"/>
                <a:cs typeface="Calibri"/>
              </a:rPr>
              <a:t>self-</a:t>
            </a:r>
            <a:r>
              <a:rPr sz="2600" spc="60" dirty="0">
                <a:solidFill>
                  <a:srgbClr val="FF0000"/>
                </a:solidFill>
                <a:latin typeface="Calibri"/>
                <a:cs typeface="Calibri"/>
              </a:rPr>
              <a:t>expression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0500" y="262890"/>
            <a:ext cx="5886450" cy="3108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2895" y="2859481"/>
            <a:ext cx="3481704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125" dirty="0">
                <a:latin typeface="Palatino Linotype"/>
                <a:cs typeface="Palatino Linotype"/>
              </a:rPr>
              <a:t>PHASE</a:t>
            </a:r>
            <a:r>
              <a:rPr sz="6600" b="1" dirty="0">
                <a:latin typeface="Palatino Linotype"/>
                <a:cs typeface="Palatino Linotype"/>
              </a:rPr>
              <a:t> </a:t>
            </a:r>
            <a:r>
              <a:rPr sz="9600" b="1" spc="-2020" dirty="0">
                <a:latin typeface="Palatino Linotype"/>
                <a:cs typeface="Palatino Linotype"/>
              </a:rPr>
              <a:t>1</a:t>
            </a:r>
            <a:endParaRPr sz="9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490" y="5269991"/>
            <a:ext cx="8587105" cy="2734945"/>
          </a:xfrm>
          <a:custGeom>
            <a:avLst/>
            <a:gdLst/>
            <a:ahLst/>
            <a:cxnLst/>
            <a:rect l="l" t="t" r="r" b="b"/>
            <a:pathLst>
              <a:path w="8587105" h="2734945">
                <a:moveTo>
                  <a:pt x="8221737" y="0"/>
                </a:moveTo>
                <a:lnTo>
                  <a:pt x="364907" y="0"/>
                </a:lnTo>
                <a:lnTo>
                  <a:pt x="315391" y="3330"/>
                </a:lnTo>
                <a:lnTo>
                  <a:pt x="267899" y="13031"/>
                </a:lnTo>
                <a:lnTo>
                  <a:pt x="222867" y="28668"/>
                </a:lnTo>
                <a:lnTo>
                  <a:pt x="180730" y="49807"/>
                </a:lnTo>
                <a:lnTo>
                  <a:pt x="141922" y="76014"/>
                </a:lnTo>
                <a:lnTo>
                  <a:pt x="106877" y="106854"/>
                </a:lnTo>
                <a:lnTo>
                  <a:pt x="76032" y="141893"/>
                </a:lnTo>
                <a:lnTo>
                  <a:pt x="49819" y="180697"/>
                </a:lnTo>
                <a:lnTo>
                  <a:pt x="28675" y="222831"/>
                </a:lnTo>
                <a:lnTo>
                  <a:pt x="13034" y="267861"/>
                </a:lnTo>
                <a:lnTo>
                  <a:pt x="3331" y="315352"/>
                </a:lnTo>
                <a:lnTo>
                  <a:pt x="0" y="364870"/>
                </a:lnTo>
                <a:lnTo>
                  <a:pt x="0" y="2369896"/>
                </a:lnTo>
                <a:lnTo>
                  <a:pt x="3331" y="2419412"/>
                </a:lnTo>
                <a:lnTo>
                  <a:pt x="13034" y="2466904"/>
                </a:lnTo>
                <a:lnTo>
                  <a:pt x="28675" y="2511936"/>
                </a:lnTo>
                <a:lnTo>
                  <a:pt x="49819" y="2554073"/>
                </a:lnTo>
                <a:lnTo>
                  <a:pt x="76032" y="2592882"/>
                </a:lnTo>
                <a:lnTo>
                  <a:pt x="106877" y="2627926"/>
                </a:lnTo>
                <a:lnTo>
                  <a:pt x="141922" y="2658772"/>
                </a:lnTo>
                <a:lnTo>
                  <a:pt x="180730" y="2684985"/>
                </a:lnTo>
                <a:lnTo>
                  <a:pt x="222867" y="2706129"/>
                </a:lnTo>
                <a:lnTo>
                  <a:pt x="267899" y="2721770"/>
                </a:lnTo>
                <a:lnTo>
                  <a:pt x="315391" y="2731474"/>
                </a:lnTo>
                <a:lnTo>
                  <a:pt x="364907" y="2734805"/>
                </a:lnTo>
                <a:lnTo>
                  <a:pt x="8221737" y="2734805"/>
                </a:lnTo>
                <a:lnTo>
                  <a:pt x="8271258" y="2731474"/>
                </a:lnTo>
                <a:lnTo>
                  <a:pt x="8318756" y="2721770"/>
                </a:lnTo>
                <a:lnTo>
                  <a:pt x="8363796" y="2706129"/>
                </a:lnTo>
                <a:lnTo>
                  <a:pt x="8405943" y="2684985"/>
                </a:lnTo>
                <a:lnTo>
                  <a:pt x="8444762" y="2658772"/>
                </a:lnTo>
                <a:lnTo>
                  <a:pt x="8479817" y="2627926"/>
                </a:lnTo>
                <a:lnTo>
                  <a:pt x="8510673" y="2592882"/>
                </a:lnTo>
                <a:lnTo>
                  <a:pt x="8536894" y="2554073"/>
                </a:lnTo>
                <a:lnTo>
                  <a:pt x="8558047" y="2511936"/>
                </a:lnTo>
                <a:lnTo>
                  <a:pt x="8573694" y="2466904"/>
                </a:lnTo>
                <a:lnTo>
                  <a:pt x="8583402" y="2419412"/>
                </a:lnTo>
                <a:lnTo>
                  <a:pt x="8586735" y="2369896"/>
                </a:lnTo>
                <a:lnTo>
                  <a:pt x="8586735" y="364870"/>
                </a:lnTo>
                <a:lnTo>
                  <a:pt x="8583402" y="315352"/>
                </a:lnTo>
                <a:lnTo>
                  <a:pt x="8573694" y="267861"/>
                </a:lnTo>
                <a:lnTo>
                  <a:pt x="8558047" y="222831"/>
                </a:lnTo>
                <a:lnTo>
                  <a:pt x="8536894" y="180697"/>
                </a:lnTo>
                <a:lnTo>
                  <a:pt x="8510673" y="141893"/>
                </a:lnTo>
                <a:lnTo>
                  <a:pt x="8479817" y="106854"/>
                </a:lnTo>
                <a:lnTo>
                  <a:pt x="8444762" y="76014"/>
                </a:lnTo>
                <a:lnTo>
                  <a:pt x="8405943" y="49807"/>
                </a:lnTo>
                <a:lnTo>
                  <a:pt x="8363796" y="28668"/>
                </a:lnTo>
                <a:lnTo>
                  <a:pt x="8318756" y="13031"/>
                </a:lnTo>
                <a:lnTo>
                  <a:pt x="8271258" y="3330"/>
                </a:lnTo>
                <a:lnTo>
                  <a:pt x="8221737" y="0"/>
                </a:lnTo>
                <a:close/>
              </a:path>
            </a:pathLst>
          </a:custGeom>
          <a:solidFill>
            <a:srgbClr val="EB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5277" y="5394197"/>
            <a:ext cx="8134984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0" dirty="0">
                <a:latin typeface="Palatino Linotype"/>
                <a:cs typeface="Palatino Linotype"/>
              </a:rPr>
              <a:t>What</a:t>
            </a:r>
            <a:r>
              <a:rPr sz="1800" b="1" i="1" spc="-60" dirty="0">
                <a:latin typeface="Palatino Linotype"/>
                <a:cs typeface="Palatino Linotype"/>
              </a:rPr>
              <a:t> </a:t>
            </a:r>
            <a:r>
              <a:rPr sz="1800" b="1" i="1" spc="-85" dirty="0">
                <a:latin typeface="Palatino Linotype"/>
                <a:cs typeface="Palatino Linotype"/>
              </a:rPr>
              <a:t>Makes</a:t>
            </a:r>
            <a:r>
              <a:rPr sz="1800" b="1" i="1" spc="-35" dirty="0">
                <a:latin typeface="Palatino Linotype"/>
                <a:cs typeface="Palatino Linotype"/>
              </a:rPr>
              <a:t> </a:t>
            </a:r>
            <a:r>
              <a:rPr sz="1800" b="1" i="1" spc="-20" dirty="0">
                <a:latin typeface="Palatino Linotype"/>
                <a:cs typeface="Palatino Linotype"/>
              </a:rPr>
              <a:t>RANG</a:t>
            </a:r>
            <a:r>
              <a:rPr sz="1800" b="1" i="1" spc="-45" dirty="0">
                <a:latin typeface="Palatino Linotype"/>
                <a:cs typeface="Palatino Linotype"/>
              </a:rPr>
              <a:t> </a:t>
            </a:r>
            <a:r>
              <a:rPr sz="1800" b="1" i="1" spc="-10" dirty="0">
                <a:latin typeface="Palatino Linotype"/>
                <a:cs typeface="Palatino Linotype"/>
              </a:rPr>
              <a:t>Unique:</a:t>
            </a:r>
            <a:endParaRPr sz="1800">
              <a:latin typeface="Palatino Linotype"/>
              <a:cs typeface="Palatino Linotype"/>
            </a:endParaRPr>
          </a:p>
          <a:p>
            <a:pPr marL="91440" indent="-88900">
              <a:lnSpc>
                <a:spcPct val="100000"/>
              </a:lnSpc>
              <a:spcBef>
                <a:spcPts val="216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r>
              <a:rPr sz="1800" b="1" i="1" spc="-50" dirty="0">
                <a:latin typeface="Palatino Linotype"/>
                <a:cs typeface="Palatino Linotype"/>
              </a:rPr>
              <a:t>Everyday-</a:t>
            </a:r>
            <a:r>
              <a:rPr sz="1800" b="1" i="1" spc="-75" dirty="0">
                <a:latin typeface="Palatino Linotype"/>
                <a:cs typeface="Palatino Linotype"/>
              </a:rPr>
              <a:t>First</a:t>
            </a:r>
            <a:r>
              <a:rPr sz="1800" b="1" i="1" spc="10" dirty="0">
                <a:latin typeface="Palatino Linotype"/>
                <a:cs typeface="Palatino Linotype"/>
              </a:rPr>
              <a:t> </a:t>
            </a:r>
            <a:r>
              <a:rPr sz="1800" b="1" i="1" spc="-70" dirty="0">
                <a:latin typeface="Palatino Linotype"/>
                <a:cs typeface="Palatino Linotype"/>
              </a:rPr>
              <a:t>Positioning:</a:t>
            </a:r>
            <a:r>
              <a:rPr sz="1800" b="1" i="1" spc="3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Built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spc="-20" dirty="0">
                <a:latin typeface="Palatino Linotype"/>
                <a:cs typeface="Palatino Linotype"/>
              </a:rPr>
              <a:t>specifiically</a:t>
            </a:r>
            <a:r>
              <a:rPr sz="1800" i="1" spc="50" dirty="0">
                <a:latin typeface="Palatino Linotype"/>
                <a:cs typeface="Palatino Linotype"/>
              </a:rPr>
              <a:t> </a:t>
            </a:r>
            <a:r>
              <a:rPr sz="1800" i="1" spc="-60" dirty="0">
                <a:latin typeface="Palatino Linotype"/>
                <a:cs typeface="Palatino Linotype"/>
              </a:rPr>
              <a:t>fior</a:t>
            </a:r>
            <a:r>
              <a:rPr sz="1800" i="1" spc="7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daily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casual</a:t>
            </a:r>
            <a:r>
              <a:rPr sz="1800" i="1" spc="7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wear,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not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spc="-20" dirty="0">
                <a:latin typeface="Palatino Linotype"/>
                <a:cs typeface="Palatino Linotype"/>
              </a:rPr>
              <a:t>just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smart-</a:t>
            </a:r>
            <a:endParaRPr sz="18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1800" i="1" dirty="0">
                <a:latin typeface="Palatino Linotype"/>
                <a:cs typeface="Palatino Linotype"/>
              </a:rPr>
              <a:t>casual</a:t>
            </a:r>
            <a:r>
              <a:rPr sz="1800" i="1" spc="140" dirty="0">
                <a:latin typeface="Palatino Linotype"/>
                <a:cs typeface="Palatino Linotype"/>
              </a:rPr>
              <a:t> </a:t>
            </a:r>
            <a:r>
              <a:rPr sz="1800" i="1" spc="60" dirty="0">
                <a:latin typeface="Palatino Linotype"/>
                <a:cs typeface="Palatino Linotype"/>
              </a:rPr>
              <a:t>or</a:t>
            </a:r>
            <a:r>
              <a:rPr sz="1800" i="1" spc="12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budget</a:t>
            </a:r>
            <a:r>
              <a:rPr sz="1800" i="1" spc="135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basics.</a:t>
            </a:r>
            <a:endParaRPr sz="1800">
              <a:latin typeface="Palatino Linotype"/>
              <a:cs typeface="Palatino Linotype"/>
            </a:endParaRPr>
          </a:p>
          <a:p>
            <a:pPr marL="12700" marR="5080" indent="-1016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sz="1800" b="1" i="1" spc="-50" dirty="0">
                <a:latin typeface="Palatino Linotype"/>
                <a:cs typeface="Palatino Linotype"/>
              </a:rPr>
              <a:t>	Youth-</a:t>
            </a:r>
            <a:r>
              <a:rPr sz="1800" b="1" i="1" spc="-70" dirty="0">
                <a:latin typeface="Palatino Linotype"/>
                <a:cs typeface="Palatino Linotype"/>
              </a:rPr>
              <a:t>First</a:t>
            </a:r>
            <a:r>
              <a:rPr sz="1800" b="1" i="1" dirty="0">
                <a:latin typeface="Palatino Linotype"/>
                <a:cs typeface="Palatino Linotype"/>
              </a:rPr>
              <a:t> </a:t>
            </a:r>
            <a:r>
              <a:rPr sz="1800" b="1" i="1" spc="-70" dirty="0">
                <a:latin typeface="Palatino Linotype"/>
                <a:cs typeface="Palatino Linotype"/>
              </a:rPr>
              <a:t>Identity:</a:t>
            </a:r>
            <a:r>
              <a:rPr sz="1800" b="1" i="1" spc="2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Designs</a:t>
            </a:r>
            <a:r>
              <a:rPr sz="1800" i="1" spc="30" dirty="0">
                <a:latin typeface="Palatino Linotype"/>
                <a:cs typeface="Palatino Linotype"/>
              </a:rPr>
              <a:t> </a:t>
            </a:r>
            <a:r>
              <a:rPr sz="1800" i="1" spc="60" dirty="0">
                <a:latin typeface="Palatino Linotype"/>
                <a:cs typeface="Palatino Linotype"/>
              </a:rPr>
              <a:t>and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communication</a:t>
            </a:r>
            <a:r>
              <a:rPr sz="1800" i="1" spc="30" dirty="0">
                <a:latin typeface="Palatino Linotype"/>
                <a:cs typeface="Palatino Linotype"/>
              </a:rPr>
              <a:t> </a:t>
            </a:r>
            <a:r>
              <a:rPr sz="1800" i="1" spc="-20" dirty="0">
                <a:latin typeface="Palatino Linotype"/>
                <a:cs typeface="Palatino Linotype"/>
              </a:rPr>
              <a:t>fiocused</a:t>
            </a:r>
            <a:r>
              <a:rPr sz="1800" i="1" spc="4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on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Gen</a:t>
            </a:r>
            <a:r>
              <a:rPr sz="1800" i="1" spc="5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Z</a:t>
            </a:r>
            <a:r>
              <a:rPr sz="1800" i="1" spc="35" dirty="0">
                <a:latin typeface="Palatino Linotype"/>
                <a:cs typeface="Palatino Linotype"/>
              </a:rPr>
              <a:t> </a:t>
            </a:r>
            <a:r>
              <a:rPr sz="1800" i="1" spc="-45" dirty="0">
                <a:latin typeface="Palatino Linotype"/>
                <a:cs typeface="Palatino Linotype"/>
              </a:rPr>
              <a:t>lifiestyle,</a:t>
            </a:r>
            <a:r>
              <a:rPr sz="1800" i="1" spc="45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moods, </a:t>
            </a:r>
            <a:r>
              <a:rPr sz="1800" i="1" spc="60" dirty="0">
                <a:latin typeface="Palatino Linotype"/>
                <a:cs typeface="Palatino Linotype"/>
              </a:rPr>
              <a:t>and</a:t>
            </a:r>
            <a:r>
              <a:rPr sz="1800" i="1" spc="30" dirty="0">
                <a:latin typeface="Palatino Linotype"/>
                <a:cs typeface="Palatino Linotype"/>
              </a:rPr>
              <a:t> </a:t>
            </a:r>
            <a:r>
              <a:rPr sz="1800" i="1" spc="-70" dirty="0">
                <a:latin typeface="Palatino Linotype"/>
                <a:cs typeface="Palatino Linotype"/>
              </a:rPr>
              <a:t>selfi-</a:t>
            </a:r>
            <a:r>
              <a:rPr sz="1800" i="1" spc="-10" dirty="0">
                <a:latin typeface="Palatino Linotype"/>
                <a:cs typeface="Palatino Linotype"/>
              </a:rPr>
              <a:t>expression.</a:t>
            </a:r>
            <a:endParaRPr sz="1800">
              <a:latin typeface="Palatino Linotype"/>
              <a:cs typeface="Palatino Linotype"/>
            </a:endParaRPr>
          </a:p>
          <a:p>
            <a:pPr marL="12700" marR="286385" indent="-1016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sz="1800" b="1" i="1" spc="-60" dirty="0">
                <a:latin typeface="Palatino Linotype"/>
                <a:cs typeface="Palatino Linotype"/>
              </a:rPr>
              <a:t>	Mid-</a:t>
            </a:r>
            <a:r>
              <a:rPr sz="1800" b="1" i="1" spc="-145" dirty="0">
                <a:latin typeface="Palatino Linotype"/>
                <a:cs typeface="Palatino Linotype"/>
              </a:rPr>
              <a:t>Afifiordable</a:t>
            </a:r>
            <a:r>
              <a:rPr sz="1800" b="1" i="1" spc="5" dirty="0">
                <a:latin typeface="Palatino Linotype"/>
                <a:cs typeface="Palatino Linotype"/>
              </a:rPr>
              <a:t> </a:t>
            </a:r>
            <a:r>
              <a:rPr sz="1800" b="1" i="1" spc="-65" dirty="0">
                <a:latin typeface="Palatino Linotype"/>
                <a:cs typeface="Palatino Linotype"/>
              </a:rPr>
              <a:t>Premium</a:t>
            </a:r>
            <a:r>
              <a:rPr sz="1800" b="1" i="1" spc="20" dirty="0">
                <a:latin typeface="Palatino Linotype"/>
                <a:cs typeface="Palatino Linotype"/>
              </a:rPr>
              <a:t> </a:t>
            </a:r>
            <a:r>
              <a:rPr sz="1800" b="1" i="1" spc="-20" dirty="0">
                <a:latin typeface="Palatino Linotype"/>
                <a:cs typeface="Palatino Linotype"/>
              </a:rPr>
              <a:t>Feel:</a:t>
            </a:r>
            <a:r>
              <a:rPr sz="1800" b="1" i="1" spc="6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Better</a:t>
            </a:r>
            <a:r>
              <a:rPr sz="1800" i="1" spc="2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quality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spc="60" dirty="0">
                <a:latin typeface="Palatino Linotype"/>
                <a:cs typeface="Palatino Linotype"/>
              </a:rPr>
              <a:t>and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spc="-120" dirty="0">
                <a:latin typeface="Palatino Linotype"/>
                <a:cs typeface="Palatino Linotype"/>
              </a:rPr>
              <a:t>fiit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than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budget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brands,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spc="55" dirty="0">
                <a:latin typeface="Palatino Linotype"/>
                <a:cs typeface="Palatino Linotype"/>
              </a:rPr>
              <a:t>at </a:t>
            </a:r>
            <a:r>
              <a:rPr sz="1800" i="1" spc="-20" dirty="0">
                <a:latin typeface="Palatino Linotype"/>
                <a:cs typeface="Palatino Linotype"/>
              </a:rPr>
              <a:t>more </a:t>
            </a:r>
            <a:r>
              <a:rPr sz="1800" i="1" dirty="0">
                <a:latin typeface="Palatino Linotype"/>
                <a:cs typeface="Palatino Linotype"/>
              </a:rPr>
              <a:t>accessible</a:t>
            </a:r>
            <a:r>
              <a:rPr sz="1800" i="1" spc="10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prices</a:t>
            </a:r>
            <a:r>
              <a:rPr sz="1800" i="1" spc="12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than</a:t>
            </a:r>
            <a:r>
              <a:rPr sz="1800" i="1" spc="12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premium</a:t>
            </a:r>
            <a:r>
              <a:rPr sz="1800" i="1" spc="120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labels.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490" y="1280794"/>
            <a:ext cx="8587105" cy="1666875"/>
          </a:xfrm>
          <a:custGeom>
            <a:avLst/>
            <a:gdLst/>
            <a:ahLst/>
            <a:cxnLst/>
            <a:rect l="l" t="t" r="r" b="b"/>
            <a:pathLst>
              <a:path w="8587105" h="1666875">
                <a:moveTo>
                  <a:pt x="8364358" y="0"/>
                </a:moveTo>
                <a:lnTo>
                  <a:pt x="222350" y="0"/>
                </a:lnTo>
                <a:lnTo>
                  <a:pt x="177540" y="4518"/>
                </a:lnTo>
                <a:lnTo>
                  <a:pt x="135803" y="17476"/>
                </a:lnTo>
                <a:lnTo>
                  <a:pt x="98034" y="37980"/>
                </a:lnTo>
                <a:lnTo>
                  <a:pt x="65126" y="65135"/>
                </a:lnTo>
                <a:lnTo>
                  <a:pt x="37975" y="98046"/>
                </a:lnTo>
                <a:lnTo>
                  <a:pt x="17474" y="135820"/>
                </a:lnTo>
                <a:lnTo>
                  <a:pt x="4517" y="177562"/>
                </a:lnTo>
                <a:lnTo>
                  <a:pt x="0" y="222376"/>
                </a:lnTo>
                <a:lnTo>
                  <a:pt x="0" y="1444116"/>
                </a:lnTo>
                <a:lnTo>
                  <a:pt x="4517" y="1488931"/>
                </a:lnTo>
                <a:lnTo>
                  <a:pt x="17474" y="1530673"/>
                </a:lnTo>
                <a:lnTo>
                  <a:pt x="37975" y="1568447"/>
                </a:lnTo>
                <a:lnTo>
                  <a:pt x="65126" y="1601358"/>
                </a:lnTo>
                <a:lnTo>
                  <a:pt x="98034" y="1628513"/>
                </a:lnTo>
                <a:lnTo>
                  <a:pt x="135803" y="1649017"/>
                </a:lnTo>
                <a:lnTo>
                  <a:pt x="177540" y="1661975"/>
                </a:lnTo>
                <a:lnTo>
                  <a:pt x="222350" y="1666493"/>
                </a:lnTo>
                <a:lnTo>
                  <a:pt x="8364358" y="1666493"/>
                </a:lnTo>
                <a:lnTo>
                  <a:pt x="8409173" y="1661975"/>
                </a:lnTo>
                <a:lnTo>
                  <a:pt x="8450914" y="1649017"/>
                </a:lnTo>
                <a:lnTo>
                  <a:pt x="8488688" y="1628513"/>
                </a:lnTo>
                <a:lnTo>
                  <a:pt x="8521600" y="1601358"/>
                </a:lnTo>
                <a:lnTo>
                  <a:pt x="8548755" y="1568447"/>
                </a:lnTo>
                <a:lnTo>
                  <a:pt x="8569259" y="1530673"/>
                </a:lnTo>
                <a:lnTo>
                  <a:pt x="8582217" y="1488931"/>
                </a:lnTo>
                <a:lnTo>
                  <a:pt x="8586735" y="1444116"/>
                </a:lnTo>
                <a:lnTo>
                  <a:pt x="8586735" y="222376"/>
                </a:lnTo>
                <a:lnTo>
                  <a:pt x="8582217" y="177562"/>
                </a:lnTo>
                <a:lnTo>
                  <a:pt x="8569259" y="135820"/>
                </a:lnTo>
                <a:lnTo>
                  <a:pt x="8548755" y="98046"/>
                </a:lnTo>
                <a:lnTo>
                  <a:pt x="8521600" y="65135"/>
                </a:lnTo>
                <a:lnTo>
                  <a:pt x="8488688" y="37980"/>
                </a:lnTo>
                <a:lnTo>
                  <a:pt x="8450914" y="17476"/>
                </a:lnTo>
                <a:lnTo>
                  <a:pt x="8409173" y="4518"/>
                </a:lnTo>
                <a:lnTo>
                  <a:pt x="8364358" y="0"/>
                </a:lnTo>
                <a:close/>
              </a:path>
            </a:pathLst>
          </a:custGeom>
          <a:solidFill>
            <a:srgbClr val="EB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3520" y="1362582"/>
            <a:ext cx="77209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0" dirty="0">
                <a:latin typeface="Palatino Linotype"/>
                <a:cs typeface="Palatino Linotype"/>
              </a:rPr>
              <a:t>What</a:t>
            </a:r>
            <a:r>
              <a:rPr sz="1800" b="1" i="1" spc="-45" dirty="0">
                <a:latin typeface="Palatino Linotype"/>
                <a:cs typeface="Palatino Linotype"/>
              </a:rPr>
              <a:t> </a:t>
            </a:r>
            <a:r>
              <a:rPr sz="1800" b="1" i="1" spc="-20" dirty="0">
                <a:latin typeface="Palatino Linotype"/>
                <a:cs typeface="Palatino Linotype"/>
              </a:rPr>
              <a:t>RANG</a:t>
            </a:r>
            <a:r>
              <a:rPr sz="1800" b="1" i="1" spc="-40" dirty="0">
                <a:latin typeface="Palatino Linotype"/>
                <a:cs typeface="Palatino Linotype"/>
              </a:rPr>
              <a:t> </a:t>
            </a:r>
            <a:r>
              <a:rPr sz="1800" b="1" i="1" spc="-60" dirty="0">
                <a:latin typeface="Palatino Linotype"/>
                <a:cs typeface="Palatino Linotype"/>
              </a:rPr>
              <a:t>Stands</a:t>
            </a:r>
            <a:r>
              <a:rPr sz="1800" b="1" i="1" spc="-45" dirty="0">
                <a:latin typeface="Palatino Linotype"/>
                <a:cs typeface="Palatino Linotype"/>
              </a:rPr>
              <a:t> </a:t>
            </a:r>
            <a:r>
              <a:rPr sz="1800" b="1" i="1" spc="-20" dirty="0">
                <a:latin typeface="Palatino Linotype"/>
                <a:cs typeface="Palatino Linotype"/>
              </a:rPr>
              <a:t>For:</a:t>
            </a:r>
            <a:endParaRPr sz="1800">
              <a:latin typeface="Palatino Linotype"/>
              <a:cs typeface="Palatino Linotype"/>
            </a:endParaRPr>
          </a:p>
          <a:p>
            <a:pPr marL="91440" indent="-88900">
              <a:lnSpc>
                <a:spcPct val="100000"/>
              </a:lnSpc>
              <a:spcBef>
                <a:spcPts val="216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r>
              <a:rPr sz="1800" i="1" dirty="0">
                <a:latin typeface="Palatino Linotype"/>
                <a:cs typeface="Palatino Linotype"/>
              </a:rPr>
              <a:t>Digital-</a:t>
            </a:r>
            <a:r>
              <a:rPr sz="1800" i="1" spc="-90" dirty="0">
                <a:latin typeface="Palatino Linotype"/>
                <a:cs typeface="Palatino Linotype"/>
              </a:rPr>
              <a:t>fiirst</a:t>
            </a:r>
            <a:r>
              <a:rPr sz="1800" i="1" spc="4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men’s</a:t>
            </a:r>
            <a:r>
              <a:rPr sz="1800" i="1" spc="5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casual</a:t>
            </a:r>
            <a:r>
              <a:rPr sz="1800" i="1" spc="70" dirty="0">
                <a:latin typeface="Palatino Linotype"/>
                <a:cs typeface="Palatino Linotype"/>
              </a:rPr>
              <a:t> </a:t>
            </a:r>
            <a:r>
              <a:rPr sz="1800" i="1" spc="50" dirty="0">
                <a:latin typeface="Palatino Linotype"/>
                <a:cs typeface="Palatino Linotype"/>
              </a:rPr>
              <a:t>wear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spc="50" dirty="0">
                <a:latin typeface="Palatino Linotype"/>
                <a:cs typeface="Palatino Linotype"/>
              </a:rPr>
              <a:t>brand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blending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comfiort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with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modern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street</a:t>
            </a:r>
            <a:r>
              <a:rPr sz="1800" i="1" spc="40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style.</a:t>
            </a:r>
            <a:endParaRPr sz="1800">
              <a:latin typeface="Palatino Linotype"/>
              <a:cs typeface="Palatino Linotype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sz="1800" i="1" dirty="0">
                <a:latin typeface="Palatino Linotype"/>
                <a:cs typeface="Palatino Linotype"/>
              </a:rPr>
              <a:t>Designed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spc="-60" dirty="0">
                <a:latin typeface="Palatino Linotype"/>
                <a:cs typeface="Palatino Linotype"/>
              </a:rPr>
              <a:t>fior</a:t>
            </a:r>
            <a:r>
              <a:rPr sz="1800" i="1" spc="8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everyday</a:t>
            </a:r>
            <a:r>
              <a:rPr sz="1800" i="1" spc="95" dirty="0">
                <a:latin typeface="Palatino Linotype"/>
                <a:cs typeface="Palatino Linotype"/>
              </a:rPr>
              <a:t> </a:t>
            </a:r>
            <a:r>
              <a:rPr sz="1800" i="1" spc="55" dirty="0">
                <a:latin typeface="Palatino Linotype"/>
                <a:cs typeface="Palatino Linotype"/>
              </a:rPr>
              <a:t>wear</a:t>
            </a:r>
            <a:r>
              <a:rPr sz="1800" i="1" spc="7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that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spc="-40" dirty="0">
                <a:latin typeface="Palatino Linotype"/>
                <a:cs typeface="Palatino Linotype"/>
              </a:rPr>
              <a:t>refilects</a:t>
            </a:r>
            <a:r>
              <a:rPr sz="1800" i="1" spc="60" dirty="0">
                <a:latin typeface="Palatino Linotype"/>
                <a:cs typeface="Palatino Linotype"/>
              </a:rPr>
              <a:t> mood, </a:t>
            </a:r>
            <a:r>
              <a:rPr sz="1800" i="1" dirty="0">
                <a:latin typeface="Palatino Linotype"/>
                <a:cs typeface="Palatino Linotype"/>
              </a:rPr>
              <a:t>personality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spc="70" dirty="0">
                <a:latin typeface="Palatino Linotype"/>
                <a:cs typeface="Palatino Linotype"/>
              </a:rPr>
              <a:t>and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confiidence.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400" spc="80" dirty="0"/>
              <a:t>Introduction</a:t>
            </a:r>
            <a:r>
              <a:rPr sz="6400" spc="25" dirty="0"/>
              <a:t> </a:t>
            </a:r>
            <a:r>
              <a:rPr sz="6400" spc="120" dirty="0"/>
              <a:t>to</a:t>
            </a:r>
            <a:r>
              <a:rPr sz="6400" spc="5" dirty="0"/>
              <a:t> </a:t>
            </a:r>
            <a:r>
              <a:rPr sz="6400" spc="180" dirty="0"/>
              <a:t>brand</a:t>
            </a:r>
            <a:r>
              <a:rPr sz="6400" spc="5" dirty="0"/>
              <a:t> </a:t>
            </a:r>
            <a:r>
              <a:rPr sz="6400" spc="235" dirty="0"/>
              <a:t>and</a:t>
            </a:r>
            <a:r>
              <a:rPr sz="6400" spc="5" dirty="0"/>
              <a:t> </a:t>
            </a:r>
            <a:r>
              <a:rPr sz="6400" spc="100" dirty="0"/>
              <a:t>product</a:t>
            </a:r>
            <a:endParaRPr sz="6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8259" y="1659547"/>
            <a:ext cx="5523484" cy="583055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9490" y="3163316"/>
            <a:ext cx="8587105" cy="1903095"/>
          </a:xfrm>
          <a:custGeom>
            <a:avLst/>
            <a:gdLst/>
            <a:ahLst/>
            <a:cxnLst/>
            <a:rect l="l" t="t" r="r" b="b"/>
            <a:pathLst>
              <a:path w="8587105" h="1903095">
                <a:moveTo>
                  <a:pt x="8332735" y="0"/>
                </a:moveTo>
                <a:lnTo>
                  <a:pt x="253922" y="0"/>
                </a:lnTo>
                <a:lnTo>
                  <a:pt x="208280" y="4090"/>
                </a:lnTo>
                <a:lnTo>
                  <a:pt x="165322" y="15883"/>
                </a:lnTo>
                <a:lnTo>
                  <a:pt x="125764" y="34661"/>
                </a:lnTo>
                <a:lnTo>
                  <a:pt x="90325" y="59708"/>
                </a:lnTo>
                <a:lnTo>
                  <a:pt x="59720" y="90306"/>
                </a:lnTo>
                <a:lnTo>
                  <a:pt x="34668" y="125739"/>
                </a:lnTo>
                <a:lnTo>
                  <a:pt x="15886" y="165289"/>
                </a:lnTo>
                <a:lnTo>
                  <a:pt x="4091" y="208239"/>
                </a:lnTo>
                <a:lnTo>
                  <a:pt x="0" y="253873"/>
                </a:lnTo>
                <a:lnTo>
                  <a:pt x="0" y="1649095"/>
                </a:lnTo>
                <a:lnTo>
                  <a:pt x="4091" y="1694728"/>
                </a:lnTo>
                <a:lnTo>
                  <a:pt x="15886" y="1737678"/>
                </a:lnTo>
                <a:lnTo>
                  <a:pt x="34668" y="1777228"/>
                </a:lnTo>
                <a:lnTo>
                  <a:pt x="59720" y="1812661"/>
                </a:lnTo>
                <a:lnTo>
                  <a:pt x="90325" y="1843259"/>
                </a:lnTo>
                <a:lnTo>
                  <a:pt x="125764" y="1868306"/>
                </a:lnTo>
                <a:lnTo>
                  <a:pt x="165322" y="1887084"/>
                </a:lnTo>
                <a:lnTo>
                  <a:pt x="208280" y="1898877"/>
                </a:lnTo>
                <a:lnTo>
                  <a:pt x="253922" y="1902968"/>
                </a:lnTo>
                <a:lnTo>
                  <a:pt x="8332735" y="1902968"/>
                </a:lnTo>
                <a:lnTo>
                  <a:pt x="8378373" y="1898877"/>
                </a:lnTo>
                <a:lnTo>
                  <a:pt x="8421335" y="1887084"/>
                </a:lnTo>
                <a:lnTo>
                  <a:pt x="8460901" y="1868306"/>
                </a:lnTo>
                <a:lnTo>
                  <a:pt x="8496354" y="1843259"/>
                </a:lnTo>
                <a:lnTo>
                  <a:pt x="8526974" y="1812661"/>
                </a:lnTo>
                <a:lnTo>
                  <a:pt x="8552040" y="1777228"/>
                </a:lnTo>
                <a:lnTo>
                  <a:pt x="8570836" y="1737678"/>
                </a:lnTo>
                <a:lnTo>
                  <a:pt x="8582640" y="1694728"/>
                </a:lnTo>
                <a:lnTo>
                  <a:pt x="8586735" y="1649095"/>
                </a:lnTo>
                <a:lnTo>
                  <a:pt x="8586735" y="253873"/>
                </a:lnTo>
                <a:lnTo>
                  <a:pt x="8582640" y="208239"/>
                </a:lnTo>
                <a:lnTo>
                  <a:pt x="8570836" y="165289"/>
                </a:lnTo>
                <a:lnTo>
                  <a:pt x="8552040" y="125739"/>
                </a:lnTo>
                <a:lnTo>
                  <a:pt x="8526974" y="90306"/>
                </a:lnTo>
                <a:lnTo>
                  <a:pt x="8496354" y="59708"/>
                </a:lnTo>
                <a:lnTo>
                  <a:pt x="8460901" y="34661"/>
                </a:lnTo>
                <a:lnTo>
                  <a:pt x="8421335" y="15883"/>
                </a:lnTo>
                <a:lnTo>
                  <a:pt x="8378373" y="4090"/>
                </a:lnTo>
                <a:lnTo>
                  <a:pt x="8332735" y="0"/>
                </a:lnTo>
                <a:close/>
              </a:path>
            </a:pathLst>
          </a:custGeom>
          <a:solidFill>
            <a:srgbClr val="EB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663" y="3254502"/>
            <a:ext cx="78606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Palatino Linotype"/>
                <a:cs typeface="Palatino Linotype"/>
              </a:rPr>
              <a:t>Target</a:t>
            </a:r>
            <a:r>
              <a:rPr sz="1800" b="1" i="1" spc="-15" dirty="0">
                <a:latin typeface="Palatino Linotype"/>
                <a:cs typeface="Palatino Linotype"/>
              </a:rPr>
              <a:t> </a:t>
            </a:r>
            <a:r>
              <a:rPr sz="1800" b="1" i="1" spc="-65" dirty="0">
                <a:latin typeface="Palatino Linotype"/>
                <a:cs typeface="Palatino Linotype"/>
              </a:rPr>
              <a:t>Customer</a:t>
            </a:r>
            <a:r>
              <a:rPr sz="1800" b="1" i="1" spc="5" dirty="0">
                <a:latin typeface="Palatino Linotype"/>
                <a:cs typeface="Palatino Linotype"/>
              </a:rPr>
              <a:t> </a:t>
            </a:r>
            <a:r>
              <a:rPr sz="1800" b="1" i="1" spc="-10" dirty="0">
                <a:latin typeface="Palatino Linotype"/>
                <a:cs typeface="Palatino Linotype"/>
              </a:rPr>
              <a:t>Focus:</a:t>
            </a:r>
            <a:endParaRPr sz="1800">
              <a:latin typeface="Palatino Linotype"/>
              <a:cs typeface="Palatino Linotype"/>
            </a:endParaRPr>
          </a:p>
          <a:p>
            <a:pPr marL="12700" marR="5080" indent="-10160">
              <a:lnSpc>
                <a:spcPct val="100000"/>
              </a:lnSpc>
              <a:spcBef>
                <a:spcPts val="216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r>
              <a:rPr sz="1800" i="1" dirty="0">
                <a:latin typeface="Palatino Linotype"/>
                <a:cs typeface="Palatino Linotype"/>
              </a:rPr>
              <a:t>	Urban</a:t>
            </a:r>
            <a:r>
              <a:rPr sz="1800" i="1" spc="3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Gen</a:t>
            </a:r>
            <a:r>
              <a:rPr sz="1800" i="1" spc="4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Z</a:t>
            </a:r>
            <a:r>
              <a:rPr sz="1800" i="1" spc="25" dirty="0">
                <a:latin typeface="Palatino Linotype"/>
                <a:cs typeface="Palatino Linotype"/>
              </a:rPr>
              <a:t> </a:t>
            </a:r>
            <a:r>
              <a:rPr sz="1800" i="1" spc="165" dirty="0">
                <a:latin typeface="Palatino Linotype"/>
                <a:cs typeface="Palatino Linotype"/>
              </a:rPr>
              <a:t>&amp;</a:t>
            </a:r>
            <a:r>
              <a:rPr sz="1800" i="1" spc="4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young</a:t>
            </a:r>
            <a:r>
              <a:rPr sz="1800" i="1" spc="5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millennial men</a:t>
            </a:r>
            <a:r>
              <a:rPr sz="1800" i="1" spc="3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seeking</a:t>
            </a:r>
            <a:r>
              <a:rPr sz="1800" i="1" spc="35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afifiordable,</a:t>
            </a:r>
            <a:r>
              <a:rPr sz="1800" i="1" spc="6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trendy,</a:t>
            </a:r>
            <a:r>
              <a:rPr sz="1800" i="1" spc="4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versatile</a:t>
            </a:r>
            <a:r>
              <a:rPr sz="1800" i="1" spc="40" dirty="0">
                <a:latin typeface="Palatino Linotype"/>
                <a:cs typeface="Palatino Linotype"/>
              </a:rPr>
              <a:t> </a:t>
            </a:r>
            <a:r>
              <a:rPr sz="1800" i="1" spc="-10" dirty="0">
                <a:latin typeface="Palatino Linotype"/>
                <a:cs typeface="Palatino Linotype"/>
              </a:rPr>
              <a:t>casual wear.</a:t>
            </a:r>
            <a:endParaRPr sz="1800">
              <a:latin typeface="Palatino Linotype"/>
              <a:cs typeface="Palatino Linotype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sz="1800" i="1" dirty="0">
                <a:latin typeface="Palatino Linotype"/>
                <a:cs typeface="Palatino Linotype"/>
              </a:rPr>
              <a:t>Digitally</a:t>
            </a:r>
            <a:r>
              <a:rPr sz="1800" i="1" spc="3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active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youth</a:t>
            </a:r>
            <a:r>
              <a:rPr sz="1800" i="1" spc="70" dirty="0">
                <a:latin typeface="Palatino Linotype"/>
                <a:cs typeface="Palatino Linotype"/>
              </a:rPr>
              <a:t> </a:t>
            </a:r>
            <a:r>
              <a:rPr sz="1800" i="1" spc="60" dirty="0">
                <a:latin typeface="Palatino Linotype"/>
                <a:cs typeface="Palatino Linotype"/>
              </a:rPr>
              <a:t>who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spc="-30" dirty="0">
                <a:latin typeface="Palatino Linotype"/>
                <a:cs typeface="Palatino Linotype"/>
              </a:rPr>
              <a:t>prefier</a:t>
            </a:r>
            <a:r>
              <a:rPr sz="1800" i="1" spc="75" dirty="0">
                <a:latin typeface="Palatino Linotype"/>
                <a:cs typeface="Palatino Linotype"/>
              </a:rPr>
              <a:t> </a:t>
            </a:r>
            <a:r>
              <a:rPr sz="1800" i="1" spc="-50" dirty="0">
                <a:latin typeface="Palatino Linotype"/>
                <a:cs typeface="Palatino Linotype"/>
              </a:rPr>
              <a:t>lifiestyle-</a:t>
            </a:r>
            <a:r>
              <a:rPr sz="1800" i="1" dirty="0">
                <a:latin typeface="Palatino Linotype"/>
                <a:cs typeface="Palatino Linotype"/>
              </a:rPr>
              <a:t>driven</a:t>
            </a:r>
            <a:r>
              <a:rPr sz="1800" i="1" spc="50" dirty="0">
                <a:latin typeface="Palatino Linotype"/>
                <a:cs typeface="Palatino Linotype"/>
              </a:rPr>
              <a:t> </a:t>
            </a:r>
            <a:r>
              <a:rPr sz="1800" i="1" spc="-20" dirty="0">
                <a:latin typeface="Palatino Linotype"/>
                <a:cs typeface="Palatino Linotype"/>
              </a:rPr>
              <a:t>fiashion</a:t>
            </a:r>
            <a:r>
              <a:rPr sz="1800" i="1" spc="75" dirty="0">
                <a:latin typeface="Palatino Linotype"/>
                <a:cs typeface="Palatino Linotype"/>
              </a:rPr>
              <a:t> </a:t>
            </a:r>
            <a:r>
              <a:rPr sz="1800" i="1" spc="-60" dirty="0">
                <a:latin typeface="Palatino Linotype"/>
                <a:cs typeface="Palatino Linotype"/>
              </a:rPr>
              <a:t>fior</a:t>
            </a:r>
            <a:r>
              <a:rPr sz="1800" i="1" spc="6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daily</a:t>
            </a:r>
            <a:r>
              <a:rPr sz="1800" i="1" spc="55" dirty="0">
                <a:latin typeface="Palatino Linotype"/>
                <a:cs typeface="Palatino Linotype"/>
              </a:rPr>
              <a:t> </a:t>
            </a:r>
            <a:r>
              <a:rPr sz="1800" i="1" spc="-20" dirty="0">
                <a:latin typeface="Palatino Linotype"/>
                <a:cs typeface="Palatino Linotype"/>
              </a:rPr>
              <a:t>use.</a:t>
            </a:r>
            <a:endParaRPr sz="1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219" y="883405"/>
            <a:ext cx="12444729" cy="72346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43020">
              <a:lnSpc>
                <a:spcPct val="100000"/>
              </a:lnSpc>
              <a:spcBef>
                <a:spcPts val="105"/>
              </a:spcBef>
            </a:pPr>
            <a:r>
              <a:rPr spc="75" dirty="0"/>
              <a:t>PERSONA</a:t>
            </a:r>
            <a:r>
              <a:rPr spc="120" dirty="0"/>
              <a:t> </a:t>
            </a:r>
            <a:r>
              <a:rPr i="0" spc="-60" dirty="0">
                <a:latin typeface="Times New Roman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454" y="883429"/>
            <a:ext cx="12500483" cy="72235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97680">
              <a:lnSpc>
                <a:spcPct val="100000"/>
              </a:lnSpc>
              <a:spcBef>
                <a:spcPts val="105"/>
              </a:spcBef>
            </a:pPr>
            <a:r>
              <a:rPr spc="75" dirty="0"/>
              <a:t>PERSONA</a:t>
            </a:r>
            <a:r>
              <a:rPr dirty="0"/>
              <a:t> </a:t>
            </a:r>
            <a:r>
              <a:rPr i="0" spc="-50" dirty="0">
                <a:latin typeface="Times New Roman"/>
                <a:cs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91" rIns="0" bIns="0" rtlCol="0">
            <a:spAutoFit/>
          </a:bodyPr>
          <a:lstStyle/>
          <a:p>
            <a:pPr marL="1660525">
              <a:lnSpc>
                <a:spcPct val="100000"/>
              </a:lnSpc>
              <a:spcBef>
                <a:spcPts val="105"/>
              </a:spcBef>
            </a:pPr>
            <a:r>
              <a:rPr b="1" u="sng" spc="-225" dirty="0">
                <a:solidFill>
                  <a:srgbClr val="787878"/>
                </a:solidFill>
                <a:uFill>
                  <a:solidFill>
                    <a:srgbClr val="787878"/>
                  </a:solidFill>
                </a:uFill>
                <a:latin typeface="Palatino Linotype"/>
                <a:cs typeface="Palatino Linotype"/>
              </a:rPr>
              <a:t>Competitive</a:t>
            </a:r>
            <a:r>
              <a:rPr b="1" u="sng" spc="-20" dirty="0">
                <a:solidFill>
                  <a:srgbClr val="787878"/>
                </a:solidFill>
                <a:uFill>
                  <a:solidFill>
                    <a:srgbClr val="787878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b="1" u="sng" spc="-185" dirty="0">
                <a:solidFill>
                  <a:srgbClr val="787878"/>
                </a:solidFill>
                <a:uFill>
                  <a:solidFill>
                    <a:srgbClr val="787878"/>
                  </a:solidFill>
                </a:uFill>
                <a:latin typeface="Palatino Linotype"/>
                <a:cs typeface="Palatino Linotype"/>
              </a:rPr>
              <a:t>Positioning</a:t>
            </a:r>
            <a:r>
              <a:rPr b="1" u="sng" spc="-5" dirty="0">
                <a:solidFill>
                  <a:srgbClr val="787878"/>
                </a:solidFill>
                <a:uFill>
                  <a:solidFill>
                    <a:srgbClr val="787878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b="1" u="sng" spc="-270" dirty="0">
                <a:solidFill>
                  <a:srgbClr val="787878"/>
                </a:solidFill>
                <a:uFill>
                  <a:solidFill>
                    <a:srgbClr val="787878"/>
                  </a:solidFill>
                </a:uFill>
                <a:latin typeface="Palatino Linotype"/>
                <a:cs typeface="Palatino Linotype"/>
              </a:rPr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2000" y="1231391"/>
          <a:ext cx="13257527" cy="6275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3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8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596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Gap</a:t>
                      </a:r>
                      <a:r>
                        <a:rPr sz="1600" b="1" i="1" spc="-9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Area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i="1" spc="-85" dirty="0">
                          <a:latin typeface="Palatino Linotype"/>
                          <a:cs typeface="Palatino Linotype"/>
                        </a:rPr>
                        <a:t>Allen</a:t>
                      </a:r>
                      <a:r>
                        <a:rPr sz="1600" b="1" i="1" spc="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75" dirty="0">
                          <a:latin typeface="Palatino Linotype"/>
                          <a:cs typeface="Palatino Linotype"/>
                        </a:rPr>
                        <a:t>Solly</a:t>
                      </a:r>
                      <a:r>
                        <a:rPr sz="1600" b="1" i="1" spc="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35" dirty="0">
                          <a:latin typeface="Palatino Linotype"/>
                          <a:cs typeface="Palatino Linotype"/>
                        </a:rPr>
                        <a:t>(Mid-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Premium)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Peter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dirty="0">
                          <a:latin typeface="Palatino Linotype"/>
                          <a:cs typeface="Palatino Linotype"/>
                        </a:rPr>
                        <a:t>England</a:t>
                      </a:r>
                      <a:r>
                        <a:rPr sz="1600" b="1" i="1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(Mid-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Range)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Roadster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(Budget)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marR="21209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RANG</a:t>
                      </a:r>
                      <a:r>
                        <a:rPr sz="1600" b="1" i="1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80" dirty="0">
                          <a:latin typeface="Palatino Linotype"/>
                          <a:cs typeface="Palatino Linotype"/>
                        </a:rPr>
                        <a:t>–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How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dirty="0">
                          <a:latin typeface="Palatino Linotype"/>
                          <a:cs typeface="Palatino Linotype"/>
                        </a:rPr>
                        <a:t>You</a:t>
                      </a:r>
                      <a:r>
                        <a:rPr sz="1600" b="1" i="1" spc="-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70" dirty="0">
                          <a:latin typeface="Palatino Linotype"/>
                          <a:cs typeface="Palatino Linotype"/>
                        </a:rPr>
                        <a:t>Use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This </a:t>
                      </a:r>
                      <a:r>
                        <a:rPr sz="1600" b="1" i="1" spc="-25" dirty="0">
                          <a:latin typeface="Palatino Linotype"/>
                          <a:cs typeface="Palatino Linotype"/>
                        </a:rPr>
                        <a:t>Gap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8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Everyday-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First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Positioning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Leans</a:t>
                      </a:r>
                      <a:r>
                        <a:rPr sz="1600" i="1" spc="9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smart-</a:t>
                      </a:r>
                      <a:r>
                        <a:rPr sz="1600" i="1" spc="45" dirty="0">
                          <a:latin typeface="Palatino Linotype"/>
                          <a:cs typeface="Palatino Linotype"/>
                        </a:rPr>
                        <a:t>casual;</a:t>
                      </a:r>
                      <a:r>
                        <a:rPr sz="1600" i="1" spc="1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not</a:t>
                      </a:r>
                      <a:r>
                        <a:rPr sz="1600" i="1" spc="7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daily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casual-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fiirst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Mix</a:t>
                      </a:r>
                      <a:r>
                        <a:rPr sz="1600" i="1" spc="6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0" dirty="0">
                          <a:latin typeface="Palatino Linotype"/>
                          <a:cs typeface="Palatino Linotype"/>
                        </a:rPr>
                        <a:t>ofi</a:t>
                      </a:r>
                      <a:r>
                        <a:rPr sz="1600" i="1" spc="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basics</a:t>
                      </a:r>
                      <a:r>
                        <a:rPr sz="1600" i="1" spc="8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85" dirty="0">
                          <a:latin typeface="Palatino Linotype"/>
                          <a:cs typeface="Palatino Linotype"/>
                        </a:rPr>
                        <a:t>+</a:t>
                      </a:r>
                      <a:r>
                        <a:rPr sz="1600" i="1" spc="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semi-fiormal;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not</a:t>
                      </a:r>
                      <a:r>
                        <a:rPr sz="1600" i="1" spc="2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everyday-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fiocused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Casual,</a:t>
                      </a:r>
                      <a:r>
                        <a:rPr sz="1600" i="1" spc="9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but</a:t>
                      </a:r>
                      <a:r>
                        <a:rPr sz="1600" i="1" spc="7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trend-</a:t>
                      </a:r>
                      <a:r>
                        <a:rPr sz="1600" i="1" spc="-80" dirty="0">
                          <a:latin typeface="Palatino Linotype"/>
                          <a:cs typeface="Palatino Linotype"/>
                        </a:rPr>
                        <a:t>fiirst</a:t>
                      </a:r>
                      <a:r>
                        <a:rPr sz="1600" i="1" spc="6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25" dirty="0">
                          <a:latin typeface="Palatino Linotype"/>
                          <a:cs typeface="Palatino Linotype"/>
                        </a:rPr>
                        <a:t>not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habit-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fiirst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" marR="1409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Own</a:t>
                      </a:r>
                      <a:r>
                        <a:rPr sz="1600" i="1" spc="-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60" dirty="0">
                          <a:latin typeface="Palatino Linotype"/>
                          <a:cs typeface="Palatino Linotype"/>
                        </a:rPr>
                        <a:t>everyday</a:t>
                      </a:r>
                      <a:r>
                        <a:rPr sz="1600" b="1" i="1" spc="-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55" dirty="0">
                          <a:latin typeface="Palatino Linotype"/>
                          <a:cs typeface="Palatino Linotype"/>
                        </a:rPr>
                        <a:t>casual</a:t>
                      </a: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wear </a:t>
                      </a:r>
                      <a:r>
                        <a:rPr sz="1600" i="1" spc="-60" dirty="0">
                          <a:latin typeface="Palatino Linotype"/>
                          <a:cs typeface="Palatino Linotype"/>
                        </a:rPr>
                        <a:t>fior</a:t>
                      </a:r>
                      <a:r>
                        <a:rPr sz="1600" i="1" spc="16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daily</a:t>
                      </a:r>
                      <a:r>
                        <a:rPr sz="1600" i="1" spc="20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college,</a:t>
                      </a:r>
                      <a:r>
                        <a:rPr sz="1600" i="1" spc="19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work-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casual </a:t>
                      </a:r>
                      <a:r>
                        <a:rPr sz="1600" i="1" spc="135" dirty="0">
                          <a:latin typeface="Palatino Linotype"/>
                          <a:cs typeface="Palatino Linotype"/>
                        </a:rPr>
                        <a:t>&amp;</a:t>
                      </a:r>
                      <a:r>
                        <a:rPr sz="1600" i="1" spc="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hangouts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 marR="667385">
                        <a:lnSpc>
                          <a:spcPct val="100000"/>
                        </a:lnSpc>
                      </a:pP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Youth</a:t>
                      </a:r>
                      <a:r>
                        <a:rPr sz="1600" b="1" i="1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80" dirty="0">
                          <a:latin typeface="Palatino Linotype"/>
                          <a:cs typeface="Palatino Linotype"/>
                        </a:rPr>
                        <a:t>Identity</a:t>
                      </a:r>
                      <a:r>
                        <a:rPr sz="1600" b="1" i="1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dirty="0">
                          <a:latin typeface="Palatino Linotype"/>
                          <a:cs typeface="Palatino Linotype"/>
                        </a:rPr>
                        <a:t>&amp; </a:t>
                      </a:r>
                      <a:r>
                        <a:rPr sz="1600" b="1" i="1" spc="-60" dirty="0">
                          <a:latin typeface="Palatino Linotype"/>
                          <a:cs typeface="Palatino Linotype"/>
                        </a:rPr>
                        <a:t>Emotional</a:t>
                      </a:r>
                      <a:r>
                        <a:rPr sz="1600" b="1" i="1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Connect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 marR="473075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More</a:t>
                      </a:r>
                      <a:r>
                        <a:rPr sz="1600" i="1" spc="6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polished,</a:t>
                      </a:r>
                      <a:r>
                        <a:rPr sz="1600" i="1" spc="8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less</a:t>
                      </a:r>
                      <a:r>
                        <a:rPr sz="1600" i="1" spc="5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Gen</a:t>
                      </a:r>
                      <a:r>
                        <a:rPr sz="1600" i="1" spc="5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50" dirty="0">
                          <a:latin typeface="Palatino Linotype"/>
                          <a:cs typeface="Palatino Linotype"/>
                        </a:rPr>
                        <a:t>Z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expressive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 marR="638810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Functional,</a:t>
                      </a:r>
                      <a:r>
                        <a:rPr sz="1600" i="1" spc="1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low</a:t>
                      </a:r>
                      <a:r>
                        <a:rPr sz="1600" i="1" spc="10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55" dirty="0">
                          <a:latin typeface="Palatino Linotype"/>
                          <a:cs typeface="Palatino Linotype"/>
                        </a:rPr>
                        <a:t>lifiestyle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storytelling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i="1" spc="-45" dirty="0">
                          <a:latin typeface="Palatino Linotype"/>
                          <a:cs typeface="Palatino Linotype"/>
                        </a:rPr>
                        <a:t>Youthfiul</a:t>
                      </a:r>
                      <a:r>
                        <a:rPr sz="1600" i="1" spc="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but</a:t>
                      </a:r>
                      <a:r>
                        <a:rPr sz="1600" i="1" spc="1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price/trend-</a:t>
                      </a:r>
                      <a:r>
                        <a:rPr sz="1600" i="1" spc="-25" dirty="0">
                          <a:latin typeface="Palatino Linotype"/>
                          <a:cs typeface="Palatino Linotype"/>
                        </a:rPr>
                        <a:t>led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" marR="412115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Build</a:t>
                      </a:r>
                      <a:r>
                        <a:rPr sz="1600" i="1" spc="7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80" dirty="0">
                          <a:latin typeface="Palatino Linotype"/>
                          <a:cs typeface="Palatino Linotype"/>
                        </a:rPr>
                        <a:t>youth-</a:t>
                      </a:r>
                      <a:r>
                        <a:rPr sz="1600" b="1" i="1" spc="-130" dirty="0">
                          <a:latin typeface="Palatino Linotype"/>
                          <a:cs typeface="Palatino Linotype"/>
                        </a:rPr>
                        <a:t>fiirst,</a:t>
                      </a:r>
                      <a:r>
                        <a:rPr sz="1600" b="1" i="1" spc="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70" dirty="0">
                          <a:latin typeface="Palatino Linotype"/>
                          <a:cs typeface="Palatino Linotype"/>
                        </a:rPr>
                        <a:t>identity- </a:t>
                      </a: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driven</a:t>
                      </a:r>
                      <a:r>
                        <a:rPr sz="1600" b="1" i="1" spc="-5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brand</a:t>
                      </a:r>
                      <a:r>
                        <a:rPr sz="1600" b="1" i="1" spc="-6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voice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 marR="570865">
                        <a:lnSpc>
                          <a:spcPct val="100000"/>
                        </a:lnSpc>
                      </a:pPr>
                      <a:r>
                        <a:rPr sz="1600" b="1" i="1" spc="-55" dirty="0">
                          <a:latin typeface="Palatino Linotype"/>
                          <a:cs typeface="Palatino Linotype"/>
                        </a:rPr>
                        <a:t>Style–Quality–Price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Balance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i="1" spc="80" dirty="0">
                          <a:latin typeface="Palatino Linotype"/>
                          <a:cs typeface="Palatino Linotype"/>
                        </a:rPr>
                        <a:t>Good</a:t>
                      </a:r>
                      <a:r>
                        <a:rPr sz="1600" i="1" spc="7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quality,</a:t>
                      </a:r>
                      <a:r>
                        <a:rPr sz="1600" i="1" spc="7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higher</a:t>
                      </a:r>
                      <a:r>
                        <a:rPr sz="1600" i="1" spc="6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price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Decent</a:t>
                      </a:r>
                      <a:r>
                        <a:rPr sz="1600" i="1" spc="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quality,</a:t>
                      </a:r>
                      <a:r>
                        <a:rPr sz="1600" i="1" spc="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45" dirty="0">
                          <a:latin typeface="Palatino Linotype"/>
                          <a:cs typeface="Palatino Linotype"/>
                        </a:rPr>
                        <a:t>safie</a:t>
                      </a:r>
                      <a:r>
                        <a:rPr sz="1600" i="1" spc="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designs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 marR="771525">
                        <a:lnSpc>
                          <a:spcPct val="100000"/>
                        </a:lnSpc>
                      </a:pPr>
                      <a:r>
                        <a:rPr sz="1600" i="1" spc="-35" dirty="0">
                          <a:latin typeface="Palatino Linotype"/>
                          <a:cs typeface="Palatino Linotype"/>
                        </a:rPr>
                        <a:t>Afifiordable</a:t>
                      </a:r>
                      <a:r>
                        <a:rPr sz="1600" i="1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but</a:t>
                      </a:r>
                      <a:r>
                        <a:rPr sz="1600" i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quality inconsistency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marR="50165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i="1" spc="-105" dirty="0">
                          <a:latin typeface="Palatino Linotype"/>
                          <a:cs typeface="Palatino Linotype"/>
                        </a:rPr>
                        <a:t>Ofifier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70" dirty="0">
                          <a:latin typeface="Palatino Linotype"/>
                          <a:cs typeface="Palatino Linotype"/>
                        </a:rPr>
                        <a:t>better</a:t>
                      </a:r>
                      <a:r>
                        <a:rPr sz="1600" b="1" i="1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80" dirty="0">
                          <a:latin typeface="Palatino Linotype"/>
                          <a:cs typeface="Palatino Linotype"/>
                        </a:rPr>
                        <a:t>quality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 than </a:t>
                      </a:r>
                      <a:r>
                        <a:rPr sz="1600" b="1" i="1" spc="-35" dirty="0">
                          <a:latin typeface="Palatino Linotype"/>
                          <a:cs typeface="Palatino Linotype"/>
                        </a:rPr>
                        <a:t>budget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80" dirty="0">
                          <a:latin typeface="Palatino Linotype"/>
                          <a:cs typeface="Palatino Linotype"/>
                        </a:rPr>
                        <a:t>at</a:t>
                      </a:r>
                      <a:r>
                        <a:rPr sz="1600" b="1" i="1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65" dirty="0">
                          <a:latin typeface="Palatino Linotype"/>
                          <a:cs typeface="Palatino Linotype"/>
                        </a:rPr>
                        <a:t>mid-</a:t>
                      </a:r>
                      <a:r>
                        <a:rPr sz="1600" b="1" i="1" spc="-120" dirty="0">
                          <a:latin typeface="Palatino Linotype"/>
                          <a:cs typeface="Palatino Linotype"/>
                        </a:rPr>
                        <a:t>afifiordable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price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 marR="2533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Curated</a:t>
                      </a:r>
                      <a:r>
                        <a:rPr sz="1600" b="1" i="1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55" dirty="0">
                          <a:latin typeface="Palatino Linotype"/>
                          <a:cs typeface="Palatino Linotype"/>
                        </a:rPr>
                        <a:t>Styling</a:t>
                      </a:r>
                      <a:r>
                        <a:rPr sz="1600" b="1" i="1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135" dirty="0">
                          <a:latin typeface="Palatino Linotype"/>
                          <a:cs typeface="Palatino Linotype"/>
                        </a:rPr>
                        <a:t>/</a:t>
                      </a:r>
                      <a:r>
                        <a:rPr sz="1600" b="1" i="1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140" dirty="0">
                          <a:latin typeface="Palatino Linotype"/>
                          <a:cs typeface="Palatino Linotype"/>
                        </a:rPr>
                        <a:t>Outfiit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Solutions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Product-led</a:t>
                      </a:r>
                      <a:r>
                        <a:rPr sz="1600" i="1" spc="28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displays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Basic</a:t>
                      </a:r>
                      <a:r>
                        <a:rPr sz="1600" i="1" spc="9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staples;</a:t>
                      </a:r>
                      <a:r>
                        <a:rPr sz="1600" i="1" spc="1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limited</a:t>
                      </a:r>
                      <a:r>
                        <a:rPr sz="1600" i="1" spc="1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styling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Item-based</a:t>
                      </a:r>
                      <a:r>
                        <a:rPr sz="1600" i="1" spc="3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selling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" marR="387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Provide</a:t>
                      </a:r>
                      <a:r>
                        <a:rPr sz="1600" i="1" spc="10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ready</a:t>
                      </a:r>
                      <a:r>
                        <a:rPr sz="1600" b="1" i="1" spc="6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85" dirty="0">
                          <a:latin typeface="Palatino Linotype"/>
                          <a:cs typeface="Palatino Linotype"/>
                        </a:rPr>
                        <a:t>looks,</a:t>
                      </a:r>
                      <a:r>
                        <a:rPr sz="1600" b="1" i="1" spc="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135" dirty="0">
                          <a:latin typeface="Palatino Linotype"/>
                          <a:cs typeface="Palatino Linotype"/>
                        </a:rPr>
                        <a:t>outfiit </a:t>
                      </a:r>
                      <a:r>
                        <a:rPr sz="1600" b="1" i="1" spc="-35" dirty="0">
                          <a:latin typeface="Palatino Linotype"/>
                          <a:cs typeface="Palatino Linotype"/>
                        </a:rPr>
                        <a:t>drops,</a:t>
                      </a:r>
                      <a:r>
                        <a:rPr sz="1600" b="1" i="1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90" dirty="0">
                          <a:latin typeface="Palatino Linotype"/>
                          <a:cs typeface="Palatino Linotype"/>
                        </a:rPr>
                        <a:t>styling</a:t>
                      </a:r>
                      <a:r>
                        <a:rPr sz="1600" b="1" i="1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guides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0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b="1" i="1" spc="-85" dirty="0">
                          <a:latin typeface="Palatino Linotype"/>
                          <a:cs typeface="Palatino Linotype"/>
                        </a:rPr>
                        <a:t>Community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50" dirty="0">
                          <a:latin typeface="Palatino Linotype"/>
                          <a:cs typeface="Palatino Linotype"/>
                        </a:rPr>
                        <a:t>&amp;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Repeat-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Palatino Linotype"/>
                          <a:cs typeface="Palatino Linotype"/>
                        </a:rPr>
                        <a:t>Wear</a:t>
                      </a:r>
                      <a:r>
                        <a:rPr sz="1600" b="1" i="1" spc="-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Culture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i="1" spc="80" dirty="0">
                          <a:latin typeface="Palatino Linotype"/>
                          <a:cs typeface="Palatino Linotype"/>
                        </a:rPr>
                        <a:t>Low</a:t>
                      </a:r>
                      <a:r>
                        <a:rPr sz="1600" i="1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community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 engagement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i="1" spc="80" dirty="0">
                          <a:latin typeface="Palatino Linotype"/>
                          <a:cs typeface="Palatino Linotype"/>
                        </a:rPr>
                        <a:t>Low</a:t>
                      </a:r>
                      <a:r>
                        <a:rPr sz="1600" i="1" spc="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UGC/community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Some</a:t>
                      </a:r>
                      <a:r>
                        <a:rPr sz="1600" i="1" spc="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digital</a:t>
                      </a:r>
                      <a:r>
                        <a:rPr sz="1600" i="1" spc="1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buzz,</a:t>
                      </a:r>
                      <a:r>
                        <a:rPr sz="1600" i="1" spc="1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low</a:t>
                      </a:r>
                      <a:r>
                        <a:rPr sz="1600" i="1" spc="1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i="1" spc="-10" dirty="0">
                          <a:latin typeface="Palatino Linotype"/>
                          <a:cs typeface="Palatino Linotype"/>
                        </a:rPr>
                        <a:t>loyalty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Palatino Linotype"/>
                          <a:cs typeface="Palatino Linotype"/>
                        </a:rPr>
                        <a:t>Build</a:t>
                      </a:r>
                      <a:r>
                        <a:rPr sz="1600" i="1" spc="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UGC,</a:t>
                      </a:r>
                      <a:r>
                        <a:rPr sz="1600" b="1" i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40" dirty="0">
                          <a:latin typeface="Palatino Linotype"/>
                          <a:cs typeface="Palatino Linotype"/>
                        </a:rPr>
                        <a:t>creator</a:t>
                      </a:r>
                      <a:r>
                        <a:rPr sz="1600" b="1" i="1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collabs,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1600" b="1" i="1" spc="-50" dirty="0">
                          <a:latin typeface="Palatino Linotype"/>
                          <a:cs typeface="Palatino Linotype"/>
                        </a:rPr>
                        <a:t>repeat-</a:t>
                      </a:r>
                      <a:r>
                        <a:rPr sz="1600" b="1" i="1" spc="-65" dirty="0">
                          <a:latin typeface="Palatino Linotype"/>
                          <a:cs typeface="Palatino Linotype"/>
                        </a:rPr>
                        <a:t>wear</a:t>
                      </a:r>
                      <a:r>
                        <a:rPr sz="1600" b="1" i="1" spc="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b="1" i="1" spc="-10" dirty="0">
                          <a:latin typeface="Palatino Linotype"/>
                          <a:cs typeface="Palatino Linotype"/>
                        </a:rPr>
                        <a:t>challenges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24425">
              <a:lnSpc>
                <a:spcPct val="100000"/>
              </a:lnSpc>
              <a:spcBef>
                <a:spcPts val="105"/>
              </a:spcBef>
            </a:pPr>
            <a:r>
              <a:rPr spc="40" dirty="0"/>
              <a:t>APIFY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530" y="892035"/>
            <a:ext cx="13849858" cy="7114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24425">
              <a:lnSpc>
                <a:spcPct val="100000"/>
              </a:lnSpc>
              <a:spcBef>
                <a:spcPts val="105"/>
              </a:spcBef>
            </a:pPr>
            <a:r>
              <a:rPr spc="40" dirty="0"/>
              <a:t>APIFY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978" y="769429"/>
            <a:ext cx="13758417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24425">
              <a:lnSpc>
                <a:spcPct val="100000"/>
              </a:lnSpc>
              <a:spcBef>
                <a:spcPts val="105"/>
              </a:spcBef>
            </a:pPr>
            <a:r>
              <a:rPr spc="40" dirty="0"/>
              <a:t>APIFY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158" y="769429"/>
            <a:ext cx="13826109" cy="72594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2234" y="3256279"/>
            <a:ext cx="24701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0" dirty="0">
                <a:latin typeface="Tw Cen MT"/>
                <a:cs typeface="Tw Cen MT"/>
              </a:rPr>
              <a:t>PHASE</a:t>
            </a:r>
            <a:r>
              <a:rPr sz="5400" i="0" spc="155" dirty="0">
                <a:latin typeface="Tw Cen MT"/>
                <a:cs typeface="Tw Cen MT"/>
              </a:rPr>
              <a:t> </a:t>
            </a:r>
            <a:r>
              <a:rPr sz="6000" i="0" spc="-50" dirty="0">
                <a:latin typeface="Tw Cen MT"/>
                <a:cs typeface="Tw Cen MT"/>
              </a:rPr>
              <a:t>3</a:t>
            </a:r>
            <a:endParaRPr sz="60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630399" cy="4114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439029"/>
            <a:ext cx="14630399" cy="37905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387"/>
            <a:ext cx="7162799" cy="81793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200" y="-1"/>
            <a:ext cx="7315200" cy="81793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" y="0"/>
            <a:ext cx="6849617" cy="82295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200" y="18286"/>
            <a:ext cx="7315200" cy="81930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9781" y="13207"/>
            <a:ext cx="1369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</a:t>
            </a:r>
            <a:r>
              <a:rPr sz="2400" b="1" i="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COPIES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762000"/>
            <a:ext cx="10076815" cy="6976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Headline: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Upgrade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Your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Style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RANG</a:t>
            </a:r>
            <a:endParaRPr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Description: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Shop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trendy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comfortable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men's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casual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affordable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prices.</a:t>
            </a:r>
            <a:endParaRPr sz="2400" dirty="0">
              <a:latin typeface="Calibri"/>
              <a:cs typeface="Calibri"/>
            </a:endParaRPr>
          </a:p>
          <a:p>
            <a:pPr marL="1270" algn="just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Ad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2</a:t>
            </a:r>
            <a:endParaRPr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Headline: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Stylish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Casual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Men</a:t>
            </a:r>
            <a:endParaRPr sz="2400" dirty="0">
              <a:latin typeface="Calibri"/>
              <a:cs typeface="Calibri"/>
            </a:endParaRPr>
          </a:p>
          <a:p>
            <a:pPr marL="1270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Description: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Discover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shirts,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t-</a:t>
            </a:r>
            <a:r>
              <a:rPr sz="2400" dirty="0">
                <a:latin typeface="Calibri"/>
                <a:cs typeface="Calibri"/>
              </a:rPr>
              <a:t>shirts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everyday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outfits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men.</a:t>
            </a:r>
            <a:endParaRPr sz="2400" dirty="0">
              <a:latin typeface="Calibri"/>
              <a:cs typeface="Calibri"/>
            </a:endParaRPr>
          </a:p>
          <a:p>
            <a:pPr marL="1905" algn="just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Ad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3</a:t>
            </a:r>
            <a:endParaRPr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Headline: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Men's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Casual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Online</a:t>
            </a:r>
            <a:endParaRPr sz="2400" dirty="0">
              <a:latin typeface="Calibri"/>
              <a:cs typeface="Calibri"/>
            </a:endParaRPr>
          </a:p>
          <a:p>
            <a:pPr marL="1270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Description: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premium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quality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fashion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men.</a:t>
            </a:r>
            <a:endParaRPr sz="2400" dirty="0">
              <a:latin typeface="Calibri"/>
              <a:cs typeface="Calibri"/>
            </a:endParaRPr>
          </a:p>
          <a:p>
            <a:pPr marL="1905" algn="just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Ad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4</a:t>
            </a:r>
            <a:endParaRPr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Headline: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Trendy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Outfits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Men</a:t>
            </a:r>
            <a:endParaRPr sz="2400" dirty="0">
              <a:latin typeface="Calibri"/>
              <a:cs typeface="Calibri"/>
            </a:endParaRPr>
          </a:p>
          <a:p>
            <a:pPr marL="1270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Description: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stylish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RANG’s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latest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casual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collection.</a:t>
            </a:r>
            <a:endParaRPr sz="2400" dirty="0">
              <a:latin typeface="Calibri"/>
              <a:cs typeface="Calibri"/>
            </a:endParaRPr>
          </a:p>
          <a:p>
            <a:pPr marL="1270" algn="just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Ad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5</a:t>
            </a:r>
            <a:endParaRPr sz="2400" dirty="0">
              <a:latin typeface="Calibri"/>
              <a:cs typeface="Calibri"/>
            </a:endParaRPr>
          </a:p>
          <a:p>
            <a:pPr marL="635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Headline: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Affordable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Men's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Fashion</a:t>
            </a:r>
            <a:endParaRPr sz="2400" dirty="0">
              <a:latin typeface="Calibri"/>
              <a:cs typeface="Calibri"/>
            </a:endParaRPr>
          </a:p>
          <a:p>
            <a:pPr marL="1270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Description: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Upgrade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wardrobe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spending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much.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8200" y="609600"/>
            <a:ext cx="8421243" cy="74526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Ad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6</a:t>
            </a:r>
            <a:endParaRPr lang="en-IN" sz="2200" spc="-50" dirty="0">
              <a:latin typeface="Calibri"/>
              <a:cs typeface="Calibri"/>
            </a:endParaRPr>
          </a:p>
          <a:p>
            <a:pPr marL="4445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Headline: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Shop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Casual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Shirts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&amp;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T-Shirts </a:t>
            </a:r>
            <a:endParaRPr lang="en-IN" sz="2200" spc="-10" dirty="0">
              <a:latin typeface="Calibri"/>
              <a:cs typeface="Calibri"/>
            </a:endParaRPr>
          </a:p>
          <a:p>
            <a:pPr marL="4445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Description: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Comfortable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stylish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clothing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daily</a:t>
            </a:r>
            <a:r>
              <a:rPr lang="en-IN" sz="2200" spc="-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wear.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latin typeface="Calibri"/>
                <a:cs typeface="Calibri"/>
              </a:rPr>
              <a:t>Ad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7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Headline: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Collection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RANG</a:t>
            </a:r>
            <a:endParaRPr sz="2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Description: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Fresh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styles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dropped.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Shop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now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before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it’s</a:t>
            </a:r>
            <a:endParaRPr sz="2200" dirty="0">
              <a:latin typeface="Calibri"/>
              <a:cs typeface="Calibri"/>
            </a:endParaRPr>
          </a:p>
          <a:p>
            <a:pPr marL="4445" algn="just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Calibri"/>
                <a:cs typeface="Calibri"/>
              </a:rPr>
              <a:t>gone!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latin typeface="Calibri"/>
                <a:cs typeface="Calibri"/>
              </a:rPr>
              <a:t>Ad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8</a:t>
            </a:r>
            <a:endParaRPr sz="2200" dirty="0">
              <a:latin typeface="Calibri"/>
              <a:cs typeface="Calibri"/>
            </a:endParaRPr>
          </a:p>
          <a:p>
            <a:pPr marL="4445"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Headline: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Men's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Streetwear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Collection</a:t>
            </a:r>
            <a:endParaRPr sz="2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Description: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Discover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trendy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modern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streetwear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Z</a:t>
            </a:r>
            <a:endParaRPr sz="2200" dirty="0">
              <a:latin typeface="Calibri"/>
              <a:cs typeface="Calibri"/>
            </a:endParaRPr>
          </a:p>
          <a:p>
            <a:pPr marL="5080" algn="just">
              <a:lnSpc>
                <a:spcPct val="100000"/>
              </a:lnSpc>
            </a:pPr>
            <a:r>
              <a:rPr sz="2200" spc="-20" dirty="0">
                <a:latin typeface="Calibri"/>
                <a:cs typeface="Calibri"/>
              </a:rPr>
              <a:t>men.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latin typeface="Calibri"/>
                <a:cs typeface="Calibri"/>
              </a:rPr>
              <a:t>Ad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9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Headline: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Comfortable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Casual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Wear</a:t>
            </a:r>
            <a:endParaRPr sz="2200" dirty="0">
              <a:latin typeface="Calibri"/>
              <a:cs typeface="Calibri"/>
            </a:endParaRPr>
          </a:p>
          <a:p>
            <a:pPr marL="5080"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Description: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Perfect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outfits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everyday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comfort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style.</a:t>
            </a:r>
            <a:endParaRPr sz="2200" dirty="0">
              <a:latin typeface="Calibri"/>
              <a:cs typeface="Calibri"/>
            </a:endParaRPr>
          </a:p>
          <a:p>
            <a:pPr marL="2540" algn="just">
              <a:lnSpc>
                <a:spcPct val="100000"/>
              </a:lnSpc>
              <a:spcBef>
                <a:spcPts val="2645"/>
              </a:spcBef>
            </a:pPr>
            <a:r>
              <a:rPr sz="2200" dirty="0">
                <a:latin typeface="Calibri"/>
                <a:cs typeface="Calibri"/>
              </a:rPr>
              <a:t>Ad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10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Headline: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Shop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Men's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Fashion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Now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Description: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Explore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RANG’s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stylish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affordable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clothing</a:t>
            </a:r>
            <a:endParaRPr sz="2200" dirty="0">
              <a:latin typeface="Calibri"/>
              <a:cs typeface="Calibri"/>
            </a:endParaRPr>
          </a:p>
          <a:p>
            <a:pPr marL="3810" algn="just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collection</a:t>
            </a:r>
            <a:r>
              <a:rPr sz="2200" spc="-10" dirty="0">
                <a:latin typeface="Tw Cen MT"/>
                <a:cs typeface="Tw Cen MT"/>
              </a:rPr>
              <a:t>.</a:t>
            </a:r>
            <a:endParaRPr sz="2200" dirty="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2000" y="-28048"/>
            <a:ext cx="10439400" cy="8280472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EXTENSIONS</a:t>
            </a:r>
            <a:endParaRPr lang="en-IN" sz="2400" u="sng" spc="-10" dirty="0"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2400" b="1" dirty="0">
                <a:latin typeface="Calibri"/>
                <a:cs typeface="Calibri"/>
              </a:rPr>
              <a:t>Sitelink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Extensions</a:t>
            </a:r>
            <a:endParaRPr lang="en-IN" sz="2400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b="1" dirty="0">
                <a:latin typeface="Calibri"/>
                <a:cs typeface="Calibri"/>
              </a:rPr>
              <a:t>Shop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Now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latest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fashion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collection</a:t>
            </a:r>
            <a:endParaRPr lang="en-IN" sz="2000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b="1" dirty="0">
                <a:latin typeface="Calibri"/>
                <a:cs typeface="Calibri"/>
              </a:rPr>
              <a:t>New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Arrivals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Check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style</a:t>
            </a:r>
            <a:r>
              <a:rPr lang="en-IN" sz="2000" spc="-10" dirty="0">
                <a:latin typeface="Calibri"/>
                <a:cs typeface="Calibri"/>
              </a:rPr>
              <a:t>s</a:t>
            </a: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b="1" dirty="0">
                <a:latin typeface="Calibri"/>
                <a:cs typeface="Calibri"/>
              </a:rPr>
              <a:t>Best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Sellers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Discover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trending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outfits</a:t>
            </a:r>
            <a:endParaRPr lang="en-IN" sz="2000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b="1" dirty="0">
                <a:latin typeface="Calibri"/>
                <a:cs typeface="Calibri"/>
              </a:rPr>
              <a:t>Contact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touch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support</a:t>
            </a:r>
            <a:endParaRPr lang="en-IN" sz="2000" spc="-1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2400" b="1" dirty="0">
                <a:latin typeface="Calibri"/>
                <a:cs typeface="Calibri"/>
              </a:rPr>
              <a:t>Callout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Extensions</a:t>
            </a:r>
            <a:endParaRPr lang="en-IN" sz="2400" b="1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Free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Delivery</a:t>
            </a:r>
            <a:endParaRPr lang="en-IN" sz="2000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Easy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Returns</a:t>
            </a:r>
            <a:endParaRPr lang="en-IN" sz="2000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Premium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Quality</a:t>
            </a:r>
            <a:endParaRPr lang="en-IN" sz="200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spc="-10" dirty="0">
                <a:latin typeface="Calibri"/>
                <a:cs typeface="Calibri"/>
              </a:rPr>
              <a:t>Affordable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Prices</a:t>
            </a:r>
            <a:endParaRPr lang="en-IN" sz="2000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Limited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Offer</a:t>
            </a:r>
            <a:endParaRPr lang="en-IN" sz="2000" spc="-2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spc="-25" dirty="0">
                <a:latin typeface="Calibri"/>
                <a:cs typeface="Calibri"/>
              </a:rPr>
              <a:t>Trendy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Styles</a:t>
            </a:r>
            <a:endParaRPr lang="en-IN" sz="2000" spc="-1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2400" b="1" dirty="0">
                <a:latin typeface="Calibri"/>
                <a:cs typeface="Calibri"/>
              </a:rPr>
              <a:t>Structured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Snippet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Extensions </a:t>
            </a:r>
            <a:r>
              <a:rPr sz="2400" b="1" dirty="0">
                <a:latin typeface="Calibri"/>
                <a:cs typeface="Calibri"/>
              </a:rPr>
              <a:t>Header: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Categories</a:t>
            </a:r>
            <a:endParaRPr lang="en-IN" sz="2400" b="1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spc="-10" dirty="0">
                <a:latin typeface="Calibri"/>
                <a:cs typeface="Calibri"/>
              </a:rPr>
              <a:t>Shirts</a:t>
            </a:r>
            <a:endParaRPr lang="en-IN" sz="200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spc="-20" dirty="0">
                <a:latin typeface="Calibri"/>
                <a:cs typeface="Calibri"/>
              </a:rPr>
              <a:t>T-</a:t>
            </a:r>
            <a:r>
              <a:rPr sz="2000" spc="-10" dirty="0">
                <a:latin typeface="Calibri"/>
                <a:cs typeface="Calibri"/>
              </a:rPr>
              <a:t>Shirts</a:t>
            </a:r>
            <a:endParaRPr lang="en-IN" sz="200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spc="-10" dirty="0">
                <a:latin typeface="Calibri"/>
                <a:cs typeface="Calibri"/>
              </a:rPr>
              <a:t>Streetwear</a:t>
            </a:r>
            <a:endParaRPr lang="en-IN" sz="2000" spc="-1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Casual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Wear</a:t>
            </a:r>
            <a:endParaRPr lang="en-IN" sz="2000" spc="-20" dirty="0">
              <a:latin typeface="Calibri"/>
              <a:cs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Men's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Fashion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7162799" cy="8229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2800" y="-1"/>
            <a:ext cx="7467600" cy="82295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C3F812-48E3-EBCF-97B0-9559E3D1D6A3}"/>
              </a:ext>
            </a:extLst>
          </p:cNvPr>
          <p:cNvSpPr txBox="1"/>
          <p:nvPr/>
        </p:nvSpPr>
        <p:spPr>
          <a:xfrm>
            <a:off x="4267200" y="2743200"/>
            <a:ext cx="906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/>
              <a:t>PHASE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C15DCC-E3F6-3CF3-285E-0E6589E1D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0" y="381000"/>
            <a:ext cx="8232140" cy="677108"/>
          </a:xfrm>
        </p:spPr>
        <p:txBody>
          <a:bodyPr/>
          <a:lstStyle/>
          <a:p>
            <a:r>
              <a:rPr lang="en-IN" dirty="0"/>
              <a:t>Email Workflow( MIRO)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17BE0D-FA98-B167-12AD-E440B567F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14630400" cy="68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42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661A78-2CAA-B343-6F70-CA2712A16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0" y="381000"/>
            <a:ext cx="8232140" cy="677108"/>
          </a:xfrm>
        </p:spPr>
        <p:txBody>
          <a:bodyPr/>
          <a:lstStyle/>
          <a:p>
            <a:r>
              <a:rPr lang="en-IN" dirty="0"/>
              <a:t>WhatsApp Workflow (Miro)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B4EB1CA-2579-B61E-B0AC-11A88DE2E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4630400" cy="68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81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6A37F8-0154-E936-B921-67E204ADA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0"/>
            <a:ext cx="10441940" cy="1354217"/>
          </a:xfrm>
        </p:spPr>
        <p:txBody>
          <a:bodyPr/>
          <a:lstStyle/>
          <a:p>
            <a:r>
              <a:rPr lang="en-IN" dirty="0"/>
              <a:t>EMAIL CAMPAIGN DESIGN (KLAVIYO)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5C4F51-FDFF-53FE-1B20-F88524908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6" y="914400"/>
            <a:ext cx="14630400" cy="712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21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6A37F8-0154-E936-B921-67E204ADA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0" y="304800"/>
            <a:ext cx="8839200" cy="1354217"/>
          </a:xfrm>
        </p:spPr>
        <p:txBody>
          <a:bodyPr/>
          <a:lstStyle/>
          <a:p>
            <a:r>
              <a:rPr lang="en-IN" dirty="0"/>
              <a:t>ORGANIC CONTENT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C1052-BA72-0324-281F-20D99014D06C}"/>
              </a:ext>
            </a:extLst>
          </p:cNvPr>
          <p:cNvSpPr txBox="1"/>
          <p:nvPr/>
        </p:nvSpPr>
        <p:spPr>
          <a:xfrm>
            <a:off x="838200" y="1524000"/>
            <a:ext cx="6781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Platform:</a:t>
            </a:r>
            <a:r>
              <a:rPr lang="en-IN" sz="2800" dirty="0"/>
              <a:t> Instagram</a:t>
            </a:r>
          </a:p>
          <a:p>
            <a:endParaRPr lang="en-IN" sz="2800" dirty="0"/>
          </a:p>
          <a:p>
            <a:r>
              <a:rPr lang="en-US" sz="2800" b="1" dirty="0"/>
              <a:t>Content Types: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Reels (outfit styling / daily looks)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Trend-based posts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Engagement posts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Goal: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Build followers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Increase engagement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Improve brand awareness</a:t>
            </a:r>
          </a:p>
          <a:p>
            <a:endParaRPr lang="en-US" sz="2800" dirty="0"/>
          </a:p>
          <a:p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C76B5-7620-8FB7-59BE-C94055C1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07058"/>
            <a:ext cx="7492937" cy="598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49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6A37F8-0154-E936-B921-67E204ADA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1800" y="1143000"/>
            <a:ext cx="10441940" cy="677108"/>
          </a:xfrm>
        </p:spPr>
        <p:txBody>
          <a:bodyPr/>
          <a:lstStyle/>
          <a:p>
            <a:r>
              <a:rPr lang="en-IN" dirty="0"/>
              <a:t>CAMPAIGN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D02596-9219-F475-B65B-94FB84B7386A}"/>
              </a:ext>
            </a:extLst>
          </p:cNvPr>
          <p:cNvSpPr txBox="1"/>
          <p:nvPr/>
        </p:nvSpPr>
        <p:spPr>
          <a:xfrm>
            <a:off x="2363470" y="2438400"/>
            <a:ext cx="107442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800" i="1" dirty="0"/>
              <a:t>Increase website traffic by </a:t>
            </a:r>
            <a:r>
              <a:rPr lang="en-US" sz="2800" b="1" i="1" dirty="0"/>
              <a:t>15–20%</a:t>
            </a:r>
            <a:r>
              <a:rPr lang="en-US" sz="2800" i="1" dirty="0"/>
              <a:t> in one month </a:t>
            </a:r>
          </a:p>
          <a:p>
            <a:pPr>
              <a:buFont typeface="+mj-lt"/>
              <a:buAutoNum type="arabicPeriod"/>
            </a:pPr>
            <a:r>
              <a:rPr lang="en-US" sz="2800" i="1" dirty="0"/>
              <a:t>Generate </a:t>
            </a:r>
            <a:r>
              <a:rPr lang="en-US" sz="2800" b="1" i="1" dirty="0"/>
              <a:t>100–200 leads</a:t>
            </a:r>
            <a:r>
              <a:rPr lang="en-US" sz="2800" i="1" dirty="0"/>
              <a:t> from email/WhatsApp campaigns </a:t>
            </a:r>
          </a:p>
          <a:p>
            <a:pPr>
              <a:buFont typeface="+mj-lt"/>
              <a:buAutoNum type="arabicPeriod"/>
            </a:pPr>
            <a:r>
              <a:rPr lang="en-US" sz="2800" i="1" dirty="0"/>
              <a:t>Achieve </a:t>
            </a:r>
            <a:r>
              <a:rPr lang="en-US" sz="2800" b="1" i="1" dirty="0"/>
              <a:t>2–3% conversion rate</a:t>
            </a:r>
            <a:r>
              <a:rPr lang="en-US" sz="2800" i="1" dirty="0"/>
              <a:t> (people who buy after visiting) </a:t>
            </a:r>
          </a:p>
          <a:p>
            <a:pPr>
              <a:buFont typeface="+mj-lt"/>
              <a:buAutoNum type="arabicPeriod"/>
            </a:pPr>
            <a:r>
              <a:rPr lang="en-US" sz="2800" i="1" dirty="0"/>
              <a:t>Grow Instagram engagement by </a:t>
            </a:r>
            <a:r>
              <a:rPr lang="en-US" sz="2800" b="1" i="1" dirty="0"/>
              <a:t>20–25%</a:t>
            </a:r>
            <a:r>
              <a:rPr lang="en-US" sz="2800" i="1" dirty="0"/>
              <a:t> (likes, comments, shares) </a:t>
            </a:r>
          </a:p>
          <a:p>
            <a:pPr>
              <a:buFont typeface="+mj-lt"/>
              <a:buAutoNum type="arabicPeriod"/>
            </a:pPr>
            <a:r>
              <a:rPr lang="en-US" sz="2800" i="1" dirty="0"/>
              <a:t>Increase newsletter sign-ups by </a:t>
            </a:r>
            <a:r>
              <a:rPr lang="en-US" sz="2800" b="1" i="1" dirty="0"/>
              <a:t>10–15%</a:t>
            </a:r>
            <a:r>
              <a:rPr lang="en-US" sz="2800" i="1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526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i="0" u="sng" spc="-20" dirty="0">
                <a:solidFill>
                  <a:srgbClr val="3D5C83"/>
                </a:solidFill>
                <a:uFill>
                  <a:solidFill>
                    <a:srgbClr val="3D5C83"/>
                  </a:solidFill>
                </a:uFill>
                <a:latin typeface="Tw Cen MT"/>
                <a:cs typeface="Tw Cen MT"/>
                <a:hlinkClick r:id="rId2"/>
              </a:rPr>
              <a:t>https://www.instagram.com/rang_fashio</a:t>
            </a:r>
            <a:r>
              <a:rPr sz="4000" i="0" spc="-20" dirty="0">
                <a:solidFill>
                  <a:srgbClr val="3D5C83"/>
                </a:solidFill>
                <a:latin typeface="Tw Cen MT"/>
                <a:cs typeface="Tw Cen MT"/>
              </a:rPr>
              <a:t> </a:t>
            </a:r>
            <a:r>
              <a:rPr sz="4000" i="0" u="sng" spc="-10" dirty="0">
                <a:solidFill>
                  <a:srgbClr val="3D5C83"/>
                </a:solidFill>
                <a:uFill>
                  <a:solidFill>
                    <a:srgbClr val="3D5C83"/>
                  </a:solidFill>
                </a:uFill>
                <a:latin typeface="Tw Cen MT"/>
                <a:cs typeface="Tw Cen MT"/>
                <a:hlinkClick r:id="rId2"/>
              </a:rPr>
              <a:t>nbrand?igsh=c2owYnZzaHdpZ2Q4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54807" y="4973192"/>
            <a:ext cx="8114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4000" dirty="0">
                <a:latin typeface="Tw Cen MT"/>
                <a:cs typeface="Tw Cen MT"/>
              </a:rPr>
              <a:t>https://rang-mens-wear.odoo.com/</a:t>
            </a:r>
            <a:endParaRPr sz="4000" dirty="0"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78734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5C8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703</Words>
  <Application>Microsoft Office PowerPoint</Application>
  <PresentationFormat>Custom</PresentationFormat>
  <Paragraphs>160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Arial</vt:lpstr>
      <vt:lpstr>Calibri</vt:lpstr>
      <vt:lpstr>Palatino Linotype</vt:lpstr>
      <vt:lpstr>Times New Roman</vt:lpstr>
      <vt:lpstr>Tw Cen MT</vt:lpstr>
      <vt:lpstr>Office Theme</vt:lpstr>
      <vt:lpstr>PowerPoint Presentation</vt:lpstr>
      <vt:lpstr>PHASE 1</vt:lpstr>
      <vt:lpstr>Introduction to brand and product</vt:lpstr>
      <vt:lpstr>PERSONA 1</vt:lpstr>
      <vt:lpstr>PERSONA 2</vt:lpstr>
      <vt:lpstr>Competitive Positioning Analysis</vt:lpstr>
      <vt:lpstr>APIFY</vt:lpstr>
      <vt:lpstr>APIFY</vt:lpstr>
      <vt:lpstr>APIFY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 COPIES</vt:lpstr>
      <vt:lpstr>PowerPoint Presentation</vt:lpstr>
      <vt:lpstr>PowerPoint Presentation</vt:lpstr>
      <vt:lpstr>PowerPoint Presentation</vt:lpstr>
      <vt:lpstr>PowerPoint Presentation</vt:lpstr>
      <vt:lpstr>Email Workflow( MIRO) </vt:lpstr>
      <vt:lpstr>WhatsApp Workflow (Miro)</vt:lpstr>
      <vt:lpstr>EMAIL CAMPAIGN DESIGN (KLAVIYO)</vt:lpstr>
      <vt:lpstr>ORGANIC CONTENT STRATEGY</vt:lpstr>
      <vt:lpstr>CAMPAIGN OBJECTIVES</vt:lpstr>
      <vt:lpstr>https://www.instagram.com/rang_fashio nbrand?igsh=c2owYnZzaHdpZ2Q4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kajolkumari2025@outlook.com</cp:lastModifiedBy>
  <cp:revision>3</cp:revision>
  <dcterms:created xsi:type="dcterms:W3CDTF">2026-04-02T07:24:18Z</dcterms:created>
  <dcterms:modified xsi:type="dcterms:W3CDTF">2026-04-02T11:05:54Z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2026-04-02T00:00:00Z</vt:filetime>
  </property>
  <property fmtid="{D5CDD505-2E9C-101B-9397-08002B2CF9AE}" pid="5" name="Producer">
    <vt:lpwstr>3-Heights(TM) PDF Security Shell 4.8.25.2 (http://www.pdf-tools.com)</vt:lpwstr>
  </property>
</Properties>
</file>